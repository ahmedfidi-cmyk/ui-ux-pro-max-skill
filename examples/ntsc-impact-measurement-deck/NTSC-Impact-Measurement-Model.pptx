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7332F"/>
              </a:gs>
              <a:gs pos="100000">
                <a:srgbClr val="004E43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tsc-emblem-gold.png"/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8503920" y="3291840"/>
            <a:ext cx="4754880" cy="4765446"/>
          </a:xfrm>
          <a:prstGeom prst="rect">
            <a:avLst/>
          </a:prstGeom>
          <a:effectLst/>
        </p:spPr>
      </p:pic>
      <p:pic>
        <p:nvPicPr>
          <p:cNvPr id="4" name="Picture 3" descr="ntsc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640080"/>
            <a:ext cx="4023360" cy="131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4884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</a:pPr>
            <a:r>
              <a:rPr sz="4600" b="1">
                <a:solidFill>
                  <a:srgbClr val="FFFFFF"/>
                </a:solidFill>
                <a:latin typeface="Segoe UI"/>
                <a:cs typeface="Segoe UI"/>
              </a:rPr>
              <a:t>نموذج قياس أثر المشاركات</a:t>
            </a:r>
          </a:p>
          <a:p>
            <a:pPr algn="r" rtl="1">
              <a:lnSpc>
                <a:spcPct val="108000"/>
              </a:lnSpc>
            </a:pPr>
            <a:r>
              <a:rPr sz="4600" b="1">
                <a:solidFill>
                  <a:srgbClr val="FFFFFF"/>
                </a:solidFill>
                <a:latin typeface="Segoe UI"/>
                <a:cs typeface="Segoe UI"/>
              </a:rPr>
              <a:t>في الفعاليات والمؤتمرات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sz="1600" b="0">
                <a:solidFill>
                  <a:srgbClr val="E9CE74"/>
                </a:solidFill>
                <a:latin typeface="Segoe UI"/>
                <a:cs typeface="Segoe UI"/>
              </a:rPr>
              <a:t>PARTICIPATION IMPACT MEASUREMENT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71632" y="4434840"/>
            <a:ext cx="868680" cy="45720"/>
          </a:xfrm>
          <a:prstGeom prst="rect">
            <a:avLst/>
          </a:prstGeom>
          <a:solidFill>
            <a:srgbClr val="DEB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4617720"/>
            <a:ext cx="6153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0">
                <a:solidFill>
                  <a:srgbClr val="CFE0D9"/>
                </a:solidFill>
                <a:latin typeface="Segoe UI"/>
                <a:cs typeface="Segoe UI"/>
              </a:rPr>
              <a:t>إدارة التواصل  |  Communications Department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100" b="0">
                <a:solidFill>
                  <a:srgbClr val="9FB7B0"/>
                </a:solidFill>
                <a:latin typeface="Segoe UI"/>
                <a:cs typeface="Segoe UI"/>
              </a:rPr>
              <a:t>المركز الوطني لسلامة النقل · National Transport Safety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698480" y="566928"/>
            <a:ext cx="502920" cy="0"/>
          </a:xfrm>
          <a:prstGeom prst="bentConnector3">
            <a:avLst/>
          </a:prstGeom>
          <a:ln w="25400">
            <a:solidFill>
              <a:srgbClr val="DEB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0" y="36576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>
                <a:solidFill>
                  <a:srgbClr val="004E43"/>
                </a:solidFill>
                <a:latin typeface="Segoe UI"/>
                <a:cs typeface="Segoe UI"/>
              </a:rPr>
              <a:t>الإطار العام</a:t>
            </a:r>
          </a:p>
          <a:p>
            <a:pPr algn="r" rtl="1">
              <a:lnSpc>
                <a:spcPct val="105000"/>
              </a:lnSpc>
            </a:pPr>
            <a:r>
              <a:rPr sz="900" b="0">
                <a:solidFill>
                  <a:srgbClr val="71946A"/>
                </a:solidFill>
                <a:latin typeface="Segoe UI"/>
                <a:cs typeface="Segoe UI"/>
              </a:rPr>
              <a:t>The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100" b="1">
                <a:solidFill>
                  <a:srgbClr val="71946A"/>
                </a:solidFill>
                <a:latin typeface="Consolas"/>
                <a:cs typeface="Consolas"/>
              </a:rPr>
              <a:t>01 —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000" b="1">
                <a:solidFill>
                  <a:srgbClr val="004E43"/>
                </a:solidFill>
                <a:latin typeface="Segoe UI"/>
                <a:cs typeface="Segoe UI"/>
              </a:rPr>
              <a:t>آلية قياس </a:t>
            </a:r>
            <a:r>
              <a:rPr sz="3000" b="1">
                <a:solidFill>
                  <a:srgbClr val="DEB83B"/>
                </a:solidFill>
                <a:latin typeface="Segoe UI"/>
                <a:cs typeface="Segoe UI"/>
              </a:rPr>
              <a:t>أثر المشاركة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50" b="0">
                <a:solidFill>
                  <a:srgbClr val="2C3A36"/>
                </a:solidFill>
                <a:latin typeface="Segoe UI"/>
                <a:cs typeface="Segoe UI"/>
              </a:rPr>
              <a:t>منظومة مؤسسية لقياس فاعلية مشاركات المركز، تعتمد على منهجية ومعايير محددة تحوّل الحضور في الفعاليات إلى أثرٍ قابلٍ للقياس وقرارات قائمة على البيانات.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2615" y="251460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22615" y="2514600"/>
            <a:ext cx="3520440" cy="64008"/>
          </a:xfrm>
          <a:prstGeom prst="rect">
            <a:avLst/>
          </a:prstGeom>
          <a:solidFill>
            <a:srgbClr val="DEB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28655" y="2807208"/>
            <a:ext cx="640080" cy="64008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004E43"/>
              </a:gs>
              <a:gs pos="100000">
                <a:srgbClr val="17332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6935" y="2880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200" b="1">
                <a:solidFill>
                  <a:srgbClr val="DEB83B"/>
                </a:solidFill>
                <a:latin typeface="Consolas"/>
                <a:cs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8647" y="365760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1">
                <a:solidFill>
                  <a:srgbClr val="004E43"/>
                </a:solidFill>
                <a:latin typeface="Segoe UI"/>
                <a:cs typeface="Segoe UI"/>
              </a:rPr>
              <a:t>قياس الأثر الفعلي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8647" y="4297680"/>
            <a:ext cx="30083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b="0">
                <a:solidFill>
                  <a:srgbClr val="52615C"/>
                </a:solidFill>
                <a:latin typeface="Segoe UI"/>
                <a:cs typeface="Segoe UI"/>
              </a:rPr>
              <a:t>تمكين الإدارة من قياس الأثر الحقيقي للمشاركة ومقارنة المُستهدف بالناتج الفعلي.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8647" y="5394960"/>
            <a:ext cx="3008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sz="950" b="1">
                <a:solidFill>
                  <a:srgbClr val="71946A"/>
                </a:solidFill>
                <a:latin typeface="Segoe UI"/>
                <a:cs typeface="Segoe UI"/>
              </a:rPr>
              <a:t>MEASURE REAL IMPACT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6999" y="251460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6999" y="2514600"/>
            <a:ext cx="3520440" cy="64008"/>
          </a:xfrm>
          <a:prstGeom prst="rect">
            <a:avLst/>
          </a:prstGeom>
          <a:solidFill>
            <a:srgbClr val="DEB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3039" y="2807208"/>
            <a:ext cx="640080" cy="64008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004E43"/>
              </a:gs>
              <a:gs pos="100000">
                <a:srgbClr val="17332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1319" y="2880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200" b="1">
                <a:solidFill>
                  <a:srgbClr val="DEB83B"/>
                </a:solidFill>
                <a:latin typeface="Consolas"/>
                <a:cs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3031" y="365760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1">
                <a:solidFill>
                  <a:srgbClr val="004E43"/>
                </a:solidFill>
                <a:latin typeface="Segoe UI"/>
                <a:cs typeface="Segoe UI"/>
              </a:rPr>
              <a:t>توثيق الدروس والتحسين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3031" y="4297680"/>
            <a:ext cx="30083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b="0">
                <a:solidFill>
                  <a:srgbClr val="52615C"/>
                </a:solidFill>
                <a:latin typeface="Segoe UI"/>
                <a:cs typeface="Segoe UI"/>
              </a:rPr>
              <a:t>توثيق الدروس المستفادة بشكلٍ منهجي ووضع خطط التحسين المناسبة للمشاركات القادمة.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3031" y="5394960"/>
            <a:ext cx="3008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sz="950" b="1">
                <a:solidFill>
                  <a:srgbClr val="71946A"/>
                </a:solidFill>
                <a:latin typeface="Segoe UI"/>
                <a:cs typeface="Segoe UI"/>
              </a:rPr>
              <a:t>DOCUMENT &amp; IMPROVE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1383" y="251460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1383" y="2514600"/>
            <a:ext cx="3520440" cy="64008"/>
          </a:xfrm>
          <a:prstGeom prst="rect">
            <a:avLst/>
          </a:prstGeom>
          <a:solidFill>
            <a:srgbClr val="DEB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157423" y="2807208"/>
            <a:ext cx="640080" cy="64008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004E43"/>
              </a:gs>
              <a:gs pos="100000">
                <a:srgbClr val="17332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" y="2880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200" b="1">
                <a:solidFill>
                  <a:srgbClr val="DEB83B"/>
                </a:solidFill>
                <a:latin typeface="Consolas"/>
                <a:cs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" y="365760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1">
                <a:solidFill>
                  <a:srgbClr val="004E43"/>
                </a:solidFill>
                <a:latin typeface="Segoe UI"/>
                <a:cs typeface="Segoe UI"/>
              </a:rPr>
              <a:t>دعم التسويق الاستراتيجي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415" y="4297680"/>
            <a:ext cx="30083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b="0">
                <a:solidFill>
                  <a:srgbClr val="52615C"/>
                </a:solidFill>
                <a:latin typeface="Segoe UI"/>
                <a:cs typeface="Segoe UI"/>
              </a:rPr>
              <a:t>تعزيز الصورة الذهنية للمركز ودعم التسويق الاستراتيجي لحضوره المؤسسي.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415" y="5394960"/>
            <a:ext cx="3008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sz="950" b="1">
                <a:solidFill>
                  <a:srgbClr val="71946A"/>
                </a:solidFill>
                <a:latin typeface="Segoe UI"/>
                <a:cs typeface="Segoe UI"/>
              </a:rPr>
              <a:t>STRATEGIC POSITIONING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355080"/>
            <a:ext cx="11091672" cy="0"/>
          </a:xfrm>
          <a:prstGeom prst="bentConnector3">
            <a:avLst/>
          </a:prstGeom>
          <a:ln w="9525">
            <a:solidFill>
              <a:srgbClr val="CF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6419088"/>
            <a:ext cx="5422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050" b="0">
                <a:solidFill>
                  <a:srgbClr val="71946A"/>
                </a:solidFill>
                <a:latin typeface="Segoe UI"/>
                <a:cs typeface="Segoe UI"/>
              </a:rPr>
              <a:t>المركز الوطني لسلامة النقل · إدارة التواصل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900" b="0">
                <a:solidFill>
                  <a:srgbClr val="71946A"/>
                </a:solidFill>
                <a:latin typeface="Consolas"/>
                <a:cs typeface="Consolas"/>
              </a:rPr>
              <a:t>NTSC — IMPACT MEASUREMENT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698480" y="566928"/>
            <a:ext cx="502920" cy="0"/>
          </a:xfrm>
          <a:prstGeom prst="bentConnector3">
            <a:avLst/>
          </a:prstGeom>
          <a:ln w="25400">
            <a:solidFill>
              <a:srgbClr val="DEB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0" y="36576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>
                <a:solidFill>
                  <a:srgbClr val="004E43"/>
                </a:solidFill>
                <a:latin typeface="Segoe UI"/>
                <a:cs typeface="Segoe UI"/>
              </a:rPr>
              <a:t>المنهجية العامة</a:t>
            </a:r>
          </a:p>
          <a:p>
            <a:pPr algn="r" rtl="1">
              <a:lnSpc>
                <a:spcPct val="105000"/>
              </a:lnSpc>
            </a:pPr>
            <a:r>
              <a:rPr sz="900" b="0">
                <a:solidFill>
                  <a:srgbClr val="71946A"/>
                </a:solidFill>
                <a:latin typeface="Segoe UI"/>
                <a:cs typeface="Segoe UI"/>
              </a:rPr>
              <a:t>The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100" b="1">
                <a:solidFill>
                  <a:srgbClr val="71946A"/>
                </a:solidFill>
                <a:latin typeface="Consolas"/>
                <a:cs typeface="Consolas"/>
              </a:rPr>
              <a:t>02 —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000" b="1">
                <a:solidFill>
                  <a:srgbClr val="004E43"/>
                </a:solidFill>
                <a:latin typeface="Segoe UI"/>
                <a:cs typeface="Segoe UI"/>
              </a:rPr>
              <a:t>منهجية القياس في </a:t>
            </a:r>
            <a:r>
              <a:rPr sz="3000" b="1">
                <a:solidFill>
                  <a:srgbClr val="DEB83B"/>
                </a:solidFill>
                <a:latin typeface="Segoe UI"/>
                <a:cs typeface="Segoe UI"/>
              </a:rPr>
              <a:t>خمس مراحل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400" b="0">
                <a:solidFill>
                  <a:srgbClr val="2C3A36"/>
                </a:solidFill>
                <a:latin typeface="Segoe UI"/>
                <a:cs typeface="Segoe UI"/>
              </a:rPr>
              <a:t>مسارٌ متكامل ينقل المشاركة من جمع البيانات الأولية إلى أثرٍ موثّق وخطط تحسين قابلة للتنفيذ.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65860.0" y="3223260.0"/>
            <a:ext cx="9859975.0" cy="0.0"/>
          </a:xfrm>
          <a:prstGeom prst="bentConnector3">
            <a:avLst/>
          </a:prstGeom>
          <a:ln w="15875">
            <a:solidFill>
              <a:srgbClr val="719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00055" y="2697480"/>
            <a:ext cx="1051560" cy="1051560"/>
          </a:xfrm>
          <a:prstGeom prst="ellipse">
            <a:avLst/>
          </a:prstGeom>
          <a:gradFill>
            <a:gsLst>
              <a:gs pos="0">
                <a:srgbClr val="004E43"/>
              </a:gs>
              <a:gs pos="100000">
                <a:srgbClr val="17332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00055" y="2999232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2200" b="1">
                <a:solidFill>
                  <a:srgbClr val="DEB83B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1222431" y="2651760"/>
            <a:ext cx="384048" cy="384048"/>
          </a:xfrm>
          <a:prstGeom prst="ellipse">
            <a:avLst/>
          </a:prstGeom>
          <a:solidFill>
            <a:srgbClr val="DEB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22431" y="2706624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200" b="1">
                <a:solidFill>
                  <a:srgbClr val="17332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42855" y="388620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400" b="1">
                <a:solidFill>
                  <a:srgbClr val="004E43"/>
                </a:solidFill>
                <a:latin typeface="Segoe UI"/>
                <a:cs typeface="Segoe UI"/>
              </a:rPr>
              <a:t>جمع المعلومات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42855" y="425196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850" b="1">
                <a:solidFill>
                  <a:srgbClr val="71946A"/>
                </a:solidFill>
                <a:latin typeface="Segoe UI"/>
                <a:cs typeface="Segoe UI"/>
              </a:rPr>
              <a:t>DATA COLLECTION</a:t>
            </a:r>
          </a:p>
        </p:txBody>
      </p:sp>
      <p:sp>
        <p:nvSpPr>
          <p:cNvPr id="14" name="Oval 13"/>
          <p:cNvSpPr/>
          <p:nvPr/>
        </p:nvSpPr>
        <p:spPr>
          <a:xfrm>
            <a:off x="8035061" y="2697480"/>
            <a:ext cx="1051560" cy="1051560"/>
          </a:xfrm>
          <a:prstGeom prst="ellipse">
            <a:avLst/>
          </a:prstGeom>
          <a:solidFill>
            <a:srgbClr val="F6F4EE"/>
          </a:solidFill>
          <a:ln w="25400">
            <a:solidFill>
              <a:srgbClr val="CF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5061" y="2999232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2200" b="1">
                <a:solidFill>
                  <a:srgbClr val="004E43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8757437" y="2651760"/>
            <a:ext cx="384048" cy="384048"/>
          </a:xfrm>
          <a:prstGeom prst="ellipse">
            <a:avLst/>
          </a:prstGeom>
          <a:solidFill>
            <a:srgbClr val="DEB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7437" y="2706624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200" b="1">
                <a:solidFill>
                  <a:srgbClr val="17332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7861" y="388620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400" b="1">
                <a:solidFill>
                  <a:srgbClr val="004E43"/>
                </a:solidFill>
                <a:latin typeface="Segoe UI"/>
                <a:cs typeface="Segoe UI"/>
              </a:rPr>
              <a:t>تحديد المخرجات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7861" y="425196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850" b="1">
                <a:solidFill>
                  <a:srgbClr val="71946A"/>
                </a:solidFill>
                <a:latin typeface="Segoe UI"/>
                <a:cs typeface="Segoe UI"/>
              </a:rPr>
              <a:t>DEFINE OUTPUTS</a:t>
            </a:r>
          </a:p>
        </p:txBody>
      </p:sp>
      <p:sp>
        <p:nvSpPr>
          <p:cNvPr id="20" name="Oval 19"/>
          <p:cNvSpPr/>
          <p:nvPr/>
        </p:nvSpPr>
        <p:spPr>
          <a:xfrm>
            <a:off x="5570067" y="2697480"/>
            <a:ext cx="1051560" cy="1051560"/>
          </a:xfrm>
          <a:prstGeom prst="ellipse">
            <a:avLst/>
          </a:prstGeom>
          <a:solidFill>
            <a:srgbClr val="F6F4EE"/>
          </a:solidFill>
          <a:ln w="25400">
            <a:solidFill>
              <a:srgbClr val="CF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0067" y="2999232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2200" b="1">
                <a:solidFill>
                  <a:srgbClr val="004E43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6292443" y="2651760"/>
            <a:ext cx="384048" cy="384048"/>
          </a:xfrm>
          <a:prstGeom prst="ellipse">
            <a:avLst/>
          </a:prstGeom>
          <a:solidFill>
            <a:srgbClr val="DEB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2443" y="2706624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200" b="1">
                <a:solidFill>
                  <a:srgbClr val="17332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2867" y="388620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400" b="1">
                <a:solidFill>
                  <a:srgbClr val="004E43"/>
                </a:solidFill>
                <a:latin typeface="Segoe UI"/>
                <a:cs typeface="Segoe UI"/>
              </a:rPr>
              <a:t>قياس المؤشرات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2867" y="425196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850" b="1">
                <a:solidFill>
                  <a:srgbClr val="71946A"/>
                </a:solidFill>
                <a:latin typeface="Segoe UI"/>
                <a:cs typeface="Segoe UI"/>
              </a:rPr>
              <a:t>MEASURE KPIS</a:t>
            </a:r>
          </a:p>
        </p:txBody>
      </p:sp>
      <p:sp>
        <p:nvSpPr>
          <p:cNvPr id="26" name="Oval 25"/>
          <p:cNvSpPr/>
          <p:nvPr/>
        </p:nvSpPr>
        <p:spPr>
          <a:xfrm>
            <a:off x="3105073" y="2697480"/>
            <a:ext cx="1051560" cy="1051560"/>
          </a:xfrm>
          <a:prstGeom prst="ellipse">
            <a:avLst/>
          </a:prstGeom>
          <a:solidFill>
            <a:srgbClr val="F6F4EE"/>
          </a:solidFill>
          <a:ln w="25400">
            <a:solidFill>
              <a:srgbClr val="CF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5073" y="2999232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2200" b="1">
                <a:solidFill>
                  <a:srgbClr val="004E43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3827449" y="2651760"/>
            <a:ext cx="384048" cy="384048"/>
          </a:xfrm>
          <a:prstGeom prst="ellipse">
            <a:avLst/>
          </a:prstGeom>
          <a:solidFill>
            <a:srgbClr val="DEB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27449" y="2706624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200" b="1">
                <a:solidFill>
                  <a:srgbClr val="17332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47873" y="388620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400" b="1">
                <a:solidFill>
                  <a:srgbClr val="004E43"/>
                </a:solidFill>
                <a:latin typeface="Segoe UI"/>
                <a:cs typeface="Segoe UI"/>
              </a:rPr>
              <a:t>الأثر والدروس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47873" y="425196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850" b="1">
                <a:solidFill>
                  <a:srgbClr val="71946A"/>
                </a:solidFill>
                <a:latin typeface="Segoe UI"/>
                <a:cs typeface="Segoe UI"/>
              </a:rPr>
              <a:t>IMPACT &amp; INSIGHTS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2697480"/>
            <a:ext cx="1051560" cy="1051560"/>
          </a:xfrm>
          <a:prstGeom prst="ellipse">
            <a:avLst/>
          </a:prstGeom>
          <a:solidFill>
            <a:srgbClr val="F6F4EE"/>
          </a:solidFill>
          <a:ln w="25400">
            <a:solidFill>
              <a:srgbClr val="CF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999232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2200" b="1">
                <a:solidFill>
                  <a:srgbClr val="004E43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34" name="Oval 33"/>
          <p:cNvSpPr/>
          <p:nvPr/>
        </p:nvSpPr>
        <p:spPr>
          <a:xfrm>
            <a:off x="1362456" y="2651760"/>
            <a:ext cx="384048" cy="384048"/>
          </a:xfrm>
          <a:prstGeom prst="ellipse">
            <a:avLst/>
          </a:prstGeom>
          <a:solidFill>
            <a:srgbClr val="DEB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62456" y="2706624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200" b="1">
                <a:solidFill>
                  <a:srgbClr val="17332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" y="388620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400" b="1">
                <a:solidFill>
                  <a:srgbClr val="004E43"/>
                </a:solidFill>
                <a:latin typeface="Segoe UI"/>
                <a:cs typeface="Segoe UI"/>
              </a:rPr>
              <a:t>خطط التحسين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" y="425196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850" b="1">
                <a:solidFill>
                  <a:srgbClr val="71946A"/>
                </a:solidFill>
                <a:latin typeface="Segoe UI"/>
                <a:cs typeface="Segoe UI"/>
              </a:rPr>
              <a:t>OPTIMIZATION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59775" y="507492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EAEEE7"/>
          </a:solidFill>
          <a:ln w="9525">
            <a:solidFill>
              <a:srgbClr val="CF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9775" y="5166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50" b="0">
                <a:solidFill>
                  <a:srgbClr val="004E43"/>
                </a:solidFill>
                <a:latin typeface="Segoe UI"/>
                <a:cs typeface="Segoe UI"/>
              </a:rPr>
              <a:t>قبل المشاركة · التخطيط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22215" y="507492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EAEEE7"/>
          </a:solidFill>
          <a:ln w="9525">
            <a:solidFill>
              <a:srgbClr val="CF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22215" y="5166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50" b="0">
                <a:solidFill>
                  <a:srgbClr val="004E43"/>
                </a:solidFill>
                <a:latin typeface="Segoe UI"/>
                <a:cs typeface="Segoe UI"/>
              </a:rPr>
              <a:t>أثناء وبعد المشاركة · التنفيذ والقياس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84655" y="507492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EAEEE7"/>
          </a:solidFill>
          <a:ln w="9525">
            <a:solidFill>
              <a:srgbClr val="CF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84655" y="5166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150" b="0">
                <a:solidFill>
                  <a:srgbClr val="004E43"/>
                </a:solidFill>
                <a:latin typeface="Segoe UI"/>
                <a:cs typeface="Segoe UI"/>
              </a:rPr>
              <a:t>ما بعد المشاركة · التحسين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8640" y="6355080"/>
            <a:ext cx="11091672" cy="0"/>
          </a:xfrm>
          <a:prstGeom prst="bentConnector3">
            <a:avLst/>
          </a:prstGeom>
          <a:ln w="9525">
            <a:solidFill>
              <a:srgbClr val="CF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217920" y="6419088"/>
            <a:ext cx="5422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050" b="0">
                <a:solidFill>
                  <a:srgbClr val="71946A"/>
                </a:solidFill>
                <a:latin typeface="Segoe UI"/>
                <a:cs typeface="Segoe UI"/>
              </a:rPr>
              <a:t>المركز الوطني لسلامة النقل · إدارة التواصل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900" b="0">
                <a:solidFill>
                  <a:srgbClr val="71946A"/>
                </a:solidFill>
                <a:latin typeface="Consolas"/>
                <a:cs typeface="Consolas"/>
              </a:rPr>
              <a:t>NTSC — IMPACT MEASUREMENT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698480" y="566928"/>
            <a:ext cx="502920" cy="0"/>
          </a:xfrm>
          <a:prstGeom prst="bentConnector3">
            <a:avLst/>
          </a:prstGeom>
          <a:ln w="25400">
            <a:solidFill>
              <a:srgbClr val="DEB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0" y="36576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>
                <a:solidFill>
                  <a:srgbClr val="004E43"/>
                </a:solidFill>
                <a:latin typeface="Segoe UI"/>
                <a:cs typeface="Segoe UI"/>
              </a:rPr>
              <a:t>المرحلة الأولى</a:t>
            </a:r>
          </a:p>
          <a:p>
            <a:pPr algn="r" rtl="1">
              <a:lnSpc>
                <a:spcPct val="105000"/>
              </a:lnSpc>
            </a:pPr>
            <a:r>
              <a:rPr sz="900" b="0">
                <a:solidFill>
                  <a:srgbClr val="71946A"/>
                </a:solidFill>
                <a:latin typeface="Segoe UI"/>
                <a:cs typeface="Segoe UI"/>
              </a:rPr>
              <a:t>Phase 01 ·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100" b="1">
                <a:solidFill>
                  <a:srgbClr val="71946A"/>
                </a:solidFill>
                <a:latin typeface="Consolas"/>
                <a:cs typeface="Consolas"/>
              </a:rPr>
              <a:t>03 —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000" b="1">
                <a:solidFill>
                  <a:srgbClr val="004E43"/>
                </a:solidFill>
                <a:latin typeface="Segoe UI"/>
                <a:cs typeface="Segoe UI"/>
              </a:rPr>
              <a:t>جمع </a:t>
            </a:r>
            <a:r>
              <a:rPr sz="3000" b="1">
                <a:solidFill>
                  <a:srgbClr val="DEB83B"/>
                </a:solidFill>
                <a:latin typeface="Segoe UI"/>
                <a:cs typeface="Segoe UI"/>
              </a:rPr>
              <a:t>المعلومات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2375" y="1828800"/>
            <a:ext cx="5440680" cy="3246120"/>
          </a:xfrm>
          <a:prstGeom prst="roundRect">
            <a:avLst>
              <a:gd name="adj" fmla="val 5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8135" y="2103120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800" b="1">
                <a:solidFill>
                  <a:srgbClr val="004E43"/>
                </a:solidFill>
                <a:latin typeface="Segoe UI"/>
                <a:cs typeface="Segoe UI"/>
              </a:rPr>
              <a:t>قبل الحدث</a:t>
            </a:r>
          </a:p>
          <a:p>
            <a:pPr algn="r" rtl="0">
              <a:lnSpc>
                <a:spcPct val="100000"/>
              </a:lnSpc>
            </a:pPr>
            <a:r>
              <a:rPr sz="950" b="1">
                <a:solidFill>
                  <a:srgbClr val="71946A"/>
                </a:solidFill>
                <a:latin typeface="Segoe UI"/>
                <a:cs typeface="Segoe UI"/>
              </a:rPr>
              <a:t>BEFORE THE 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8135" y="2971800"/>
            <a:ext cx="47091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400" b="0">
                <a:solidFill>
                  <a:srgbClr val="3F4F4A"/>
                </a:solidFill>
                <a:latin typeface="Segoe UI"/>
                <a:cs typeface="Segoe UI"/>
              </a:rPr>
              <a:t>◆  عدد الحضور المتوقع للفعالية</a:t>
            </a:r>
          </a:p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400" b="0">
                <a:solidFill>
                  <a:srgbClr val="3F4F4A"/>
                </a:solidFill>
                <a:latin typeface="Segoe UI"/>
                <a:cs typeface="Segoe UI"/>
              </a:rPr>
              <a:t>◆  نوع الجمهور المستهدَف وطبيعته</a:t>
            </a:r>
          </a:p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400" b="0">
                <a:solidFill>
                  <a:srgbClr val="3F4F4A"/>
                </a:solidFill>
                <a:latin typeface="Segoe UI"/>
                <a:cs typeface="Segoe UI"/>
              </a:rPr>
              <a:t>◆  مشاركة الجهات ذات العلاقة</a:t>
            </a:r>
          </a:p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400" b="0">
                <a:solidFill>
                  <a:srgbClr val="3F4F4A"/>
                </a:solidFill>
                <a:latin typeface="Segoe UI"/>
                <a:cs typeface="Segoe UI"/>
              </a:rPr>
              <a:t>◆  نوعية التغطية الإعلامية المتوقعة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440680" cy="324612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004E43"/>
              </a:gs>
              <a:gs pos="100000">
                <a:srgbClr val="17332F"/>
              </a:gs>
            </a:gsLst>
            <a:lin ang="5400000" scaled="1"/>
          </a:gradFill>
          <a:ln>
            <a:noFill/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خلال وبعد الحدث</a:t>
            </a:r>
          </a:p>
          <a:p>
            <a:pPr algn="r" rtl="0">
              <a:lnSpc>
                <a:spcPct val="100000"/>
              </a:lnSpc>
            </a:pPr>
            <a:r>
              <a:rPr sz="950" b="1">
                <a:solidFill>
                  <a:srgbClr val="E9CE74"/>
                </a:solidFill>
                <a:latin typeface="Segoe UI"/>
                <a:cs typeface="Segoe UI"/>
              </a:rPr>
              <a:t>DURING &amp; 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47091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400" b="0">
                <a:solidFill>
                  <a:srgbClr val="E6EEEA"/>
                </a:solidFill>
                <a:latin typeface="Segoe UI"/>
                <a:cs typeface="Segoe UI"/>
              </a:rPr>
              <a:t>◆  عدد زوّار الجناح الفعلي</a:t>
            </a:r>
          </a:p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400" b="0">
                <a:solidFill>
                  <a:srgbClr val="E6EEEA"/>
                </a:solidFill>
                <a:latin typeface="Segoe UI"/>
                <a:cs typeface="Segoe UI"/>
              </a:rPr>
              <a:t>◆  تحليل عام لفئات زوّار الجناح</a:t>
            </a:r>
          </a:p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400" b="0">
                <a:solidFill>
                  <a:srgbClr val="E6EEEA"/>
                </a:solidFill>
                <a:latin typeface="Segoe UI"/>
                <a:cs typeface="Segoe UI"/>
              </a:rPr>
              <a:t>◆  العدد الفعلي للجهات المشاركة ذات العلاقة</a:t>
            </a:r>
          </a:p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400" b="0">
                <a:solidFill>
                  <a:srgbClr val="E6EEEA"/>
                </a:solidFill>
                <a:latin typeface="Segoe UI"/>
                <a:cs typeface="Segoe UI"/>
              </a:rPr>
              <a:t>◆  عدد التغطيات الإعلامية الخارجية للمركز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49240"/>
            <a:ext cx="11091672" cy="640080"/>
          </a:xfrm>
          <a:prstGeom prst="roundRect">
            <a:avLst>
              <a:gd name="adj" fmla="val 10000"/>
            </a:avLst>
          </a:prstGeom>
          <a:solidFill>
            <a:srgbClr val="EC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76304" y="5349240"/>
            <a:ext cx="64008" cy="640080"/>
          </a:xfrm>
          <a:prstGeom prst="rect">
            <a:avLst/>
          </a:prstGeom>
          <a:solidFill>
            <a:srgbClr val="DEB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5046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250" b="0">
                <a:solidFill>
                  <a:srgbClr val="004E43"/>
                </a:solidFill>
                <a:latin typeface="Segoe UI"/>
                <a:cs typeface="Segoe UI"/>
              </a:rPr>
              <a:t>يتم جمع المعلومات يدويًا عن طريق فريق ممثّلي المركز خلال المشاركة.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355080"/>
            <a:ext cx="11091672" cy="0"/>
          </a:xfrm>
          <a:prstGeom prst="bentConnector3">
            <a:avLst/>
          </a:prstGeom>
          <a:ln w="9525">
            <a:solidFill>
              <a:srgbClr val="CF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17920" y="6419088"/>
            <a:ext cx="5422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050" b="0">
                <a:solidFill>
                  <a:srgbClr val="71946A"/>
                </a:solidFill>
                <a:latin typeface="Segoe UI"/>
                <a:cs typeface="Segoe UI"/>
              </a:rPr>
              <a:t>المركز الوطني لسلامة النقل · إدارة التواصل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900" b="0">
                <a:solidFill>
                  <a:srgbClr val="71946A"/>
                </a:solidFill>
                <a:latin typeface="Consolas"/>
                <a:cs typeface="Consolas"/>
              </a:rPr>
              <a:t>NTSC — IMPACT MEASUREMENT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698480" y="566928"/>
            <a:ext cx="502920" cy="0"/>
          </a:xfrm>
          <a:prstGeom prst="bentConnector3">
            <a:avLst/>
          </a:prstGeom>
          <a:ln w="25400">
            <a:solidFill>
              <a:srgbClr val="DEB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0" y="36576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>
                <a:solidFill>
                  <a:srgbClr val="004E43"/>
                </a:solidFill>
                <a:latin typeface="Segoe UI"/>
                <a:cs typeface="Segoe UI"/>
              </a:rPr>
              <a:t>المرحلتان الثانية والثالثة</a:t>
            </a:r>
          </a:p>
          <a:p>
            <a:pPr algn="r" rtl="1">
              <a:lnSpc>
                <a:spcPct val="105000"/>
              </a:lnSpc>
            </a:pPr>
            <a:r>
              <a:rPr sz="900" b="0">
                <a:solidFill>
                  <a:srgbClr val="71946A"/>
                </a:solidFill>
                <a:latin typeface="Segoe UI"/>
                <a:cs typeface="Segoe UI"/>
              </a:rPr>
              <a:t>Phase 02–03 · Outputs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100" b="1">
                <a:solidFill>
                  <a:srgbClr val="71946A"/>
                </a:solidFill>
                <a:latin typeface="Consolas"/>
                <a:cs typeface="Consolas"/>
              </a:rPr>
              <a:t>04 —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000" b="1">
                <a:solidFill>
                  <a:srgbClr val="004E43"/>
                </a:solidFill>
                <a:latin typeface="Segoe UI"/>
                <a:cs typeface="Segoe UI"/>
              </a:rPr>
              <a:t>المخرجات وقياس </a:t>
            </a:r>
            <a:r>
              <a:rPr sz="3000" b="1">
                <a:solidFill>
                  <a:srgbClr val="DEB83B"/>
                </a:solidFill>
                <a:latin typeface="Segoe UI"/>
                <a:cs typeface="Segoe UI"/>
              </a:rPr>
              <a:t>المؤشرات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83080"/>
            <a:ext cx="7360920" cy="978408"/>
          </a:xfrm>
          <a:prstGeom prst="roundRect">
            <a:avLst>
              <a:gd name="adj" fmla="val 10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965960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2300" b="1">
                <a:solidFill>
                  <a:srgbClr val="004E43"/>
                </a:solidFill>
                <a:latin typeface="Segoe UI"/>
                <a:cs typeface="Segoe UI"/>
              </a:rPr>
              <a:t>5–10%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44144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000" b="0">
                <a:solidFill>
                  <a:srgbClr val="71946A"/>
                </a:solidFill>
                <a:latin typeface="Segoe UI"/>
                <a:cs typeface="Segoe UI"/>
              </a:rPr>
              <a:t>من الزوّار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929384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50" b="1">
                <a:solidFill>
                  <a:srgbClr val="004E43"/>
                </a:solidFill>
                <a:latin typeface="Segoe UI"/>
                <a:cs typeface="Segoe UI"/>
              </a:rPr>
              <a:t>عدد زوّار الجناح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295144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50" b="0">
                <a:solidFill>
                  <a:srgbClr val="6A7873"/>
                </a:solidFill>
                <a:latin typeface="Segoe UI"/>
                <a:cs typeface="Segoe UI"/>
              </a:rPr>
              <a:t>٥٪ من الزوّار (٥١ جناحًا أو أكثر) · ١٠٪ (٥٠ أو أقل)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0" y="2002536"/>
            <a:ext cx="548640" cy="548640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004E43"/>
              </a:gs>
              <a:gs pos="100000">
                <a:srgbClr val="17332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2907792"/>
            <a:ext cx="7360920" cy="978408"/>
          </a:xfrm>
          <a:prstGeom prst="roundRect">
            <a:avLst>
              <a:gd name="adj" fmla="val 10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090672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2300" b="1">
                <a:solidFill>
                  <a:srgbClr val="004E43"/>
                </a:solidFill>
                <a:latin typeface="Segoe UI"/>
                <a:cs typeface="Segoe UI"/>
              </a:rPr>
              <a:t>2–5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661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000" b="0">
                <a:solidFill>
                  <a:srgbClr val="71946A"/>
                </a:solidFill>
                <a:latin typeface="Segoe UI"/>
                <a:cs typeface="Segoe UI"/>
              </a:rPr>
              <a:t>دقائق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054096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50" b="1">
                <a:solidFill>
                  <a:srgbClr val="004E43"/>
                </a:solidFill>
                <a:latin typeface="Segoe UI"/>
                <a:cs typeface="Segoe UI"/>
              </a:rPr>
              <a:t>مدّة بقاء الزائر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419856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50" b="0">
                <a:solidFill>
                  <a:srgbClr val="6A7873"/>
                </a:solidFill>
                <a:latin typeface="Segoe UI"/>
                <a:cs typeface="Segoe UI"/>
              </a:rPr>
              <a:t>متوسط الزمن داخل جناح المركز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0" y="3127248"/>
            <a:ext cx="548640" cy="548640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004E43"/>
              </a:gs>
              <a:gs pos="100000">
                <a:srgbClr val="17332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80" y="4032504"/>
            <a:ext cx="7360920" cy="978408"/>
          </a:xfrm>
          <a:prstGeom prst="roundRect">
            <a:avLst>
              <a:gd name="adj" fmla="val 10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215384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2300" b="1">
                <a:solidFill>
                  <a:srgbClr val="004E43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6908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000" b="0">
                <a:solidFill>
                  <a:srgbClr val="71946A"/>
                </a:solidFill>
                <a:latin typeface="Segoe UI"/>
                <a:cs typeface="Segoe UI"/>
              </a:rPr>
              <a:t>شراكات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178808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50" b="1">
                <a:solidFill>
                  <a:srgbClr val="004E43"/>
                </a:solidFill>
                <a:latin typeface="Segoe UI"/>
                <a:cs typeface="Segoe UI"/>
              </a:rPr>
              <a:t>الشراكات المستهدَفة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544568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50" b="0">
                <a:solidFill>
                  <a:srgbClr val="6A7873"/>
                </a:solidFill>
                <a:latin typeface="Segoe UI"/>
                <a:cs typeface="Segoe UI"/>
              </a:rPr>
              <a:t>عدد الشراكات النوعية المستهدَفة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89920" y="4251960"/>
            <a:ext cx="548640" cy="548640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004E43"/>
              </a:gs>
              <a:gs pos="100000">
                <a:srgbClr val="17332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97680" y="5157216"/>
            <a:ext cx="7360920" cy="978408"/>
          </a:xfrm>
          <a:prstGeom prst="roundRect">
            <a:avLst>
              <a:gd name="adj" fmla="val 10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5340096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2300" b="1">
                <a:solidFill>
                  <a:srgbClr val="004E43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8155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000" b="0">
                <a:solidFill>
                  <a:srgbClr val="71946A"/>
                </a:solidFill>
                <a:latin typeface="Segoe UI"/>
                <a:cs typeface="Segoe UI"/>
              </a:rPr>
              <a:t>تغطية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30352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50" b="1">
                <a:solidFill>
                  <a:srgbClr val="004E43"/>
                </a:solidFill>
                <a:latin typeface="Segoe UI"/>
                <a:cs typeface="Segoe UI"/>
              </a:rPr>
              <a:t>التغطيات الإعلامية الخارجية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669280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50" b="0">
                <a:solidFill>
                  <a:srgbClr val="6A7873"/>
                </a:solidFill>
                <a:latin typeface="Segoe UI"/>
                <a:cs typeface="Segoe UI"/>
              </a:rPr>
              <a:t>تغطيات من جهات خارج المركز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89920" y="5376672"/>
            <a:ext cx="548640" cy="548640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004E43"/>
              </a:gs>
              <a:gs pos="100000">
                <a:srgbClr val="17332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1783080"/>
            <a:ext cx="3611880" cy="4206240"/>
          </a:xfrm>
          <a:prstGeom prst="roundRect">
            <a:avLst>
              <a:gd name="adj" fmla="val 6000"/>
            </a:avLst>
          </a:prstGeom>
          <a:gradFill>
            <a:gsLst>
              <a:gs pos="0">
                <a:srgbClr val="004E43"/>
              </a:gs>
              <a:gs pos="100000">
                <a:srgbClr val="17332F"/>
              </a:gs>
            </a:gsLst>
            <a:lin ang="5400000" scaled="1"/>
          </a:gradFill>
          <a:ln>
            <a:noFill/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205740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  <a:cs typeface="Segoe UI"/>
              </a:rPr>
              <a:t>قياس الأداء</a:t>
            </a:r>
          </a:p>
          <a:p>
            <a:pPr algn="r" rtl="0">
              <a:lnSpc>
                <a:spcPct val="100000"/>
              </a:lnSpc>
            </a:pPr>
            <a:r>
              <a:rPr sz="950" b="1">
                <a:solidFill>
                  <a:srgbClr val="E9CE74"/>
                </a:solidFill>
                <a:latin typeface="Segoe UI"/>
                <a:cs typeface="Segoe UI"/>
              </a:rPr>
              <a:t>TARGET VS. ACTUAL</a:t>
            </a:r>
          </a:p>
        </p:txBody>
      </p:sp>
      <p:sp>
        <p:nvSpPr>
          <p:cNvPr id="32" name="Oval 31"/>
          <p:cNvSpPr/>
          <p:nvPr/>
        </p:nvSpPr>
        <p:spPr>
          <a:xfrm>
            <a:off x="1531620" y="2834640"/>
            <a:ext cx="1645920" cy="1645920"/>
          </a:xfrm>
          <a:prstGeom prst="ellipse">
            <a:avLst/>
          </a:prstGeom>
          <a:solidFill>
            <a:srgbClr val="DEB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732788" y="3035808"/>
            <a:ext cx="1243584" cy="1243584"/>
          </a:xfrm>
          <a:prstGeom prst="ellipse">
            <a:avLst/>
          </a:prstGeom>
          <a:solidFill>
            <a:srgbClr val="17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31620" y="329184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  <a:cs typeface="Segoe UI"/>
              </a:rP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5860" y="38404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000" b="0">
                <a:solidFill>
                  <a:srgbClr val="E9CE74"/>
                </a:solidFill>
                <a:latin typeface="Segoe UI"/>
                <a:cs typeface="Segoe UI"/>
              </a:rPr>
              <a:t>تحقيق المستهدف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89204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>
                <a:solidFill>
                  <a:srgbClr val="CFE0D9"/>
                </a:solidFill>
                <a:latin typeface="Segoe UI"/>
                <a:cs typeface="Segoe UI"/>
              </a:rPr>
              <a:t>تُحوَّل كل مخرجات المشاركة إلى مؤشرات نسبية أو كمّية لمقارنة الأداء الفعلي بالمستهدف.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355080"/>
            <a:ext cx="11091672" cy="0"/>
          </a:xfrm>
          <a:prstGeom prst="bentConnector3">
            <a:avLst/>
          </a:prstGeom>
          <a:ln w="9525">
            <a:solidFill>
              <a:srgbClr val="CF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17920" y="6419088"/>
            <a:ext cx="5422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050" b="0">
                <a:solidFill>
                  <a:srgbClr val="71946A"/>
                </a:solidFill>
                <a:latin typeface="Segoe UI"/>
                <a:cs typeface="Segoe UI"/>
              </a:rPr>
              <a:t>المركز الوطني لسلامة النقل · إدارة التواصل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900" b="0">
                <a:solidFill>
                  <a:srgbClr val="71946A"/>
                </a:solidFill>
                <a:latin typeface="Consolas"/>
                <a:cs typeface="Consolas"/>
              </a:rPr>
              <a:t>NTSC — IMPACT MEASUREMENT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698480" y="566928"/>
            <a:ext cx="502920" cy="0"/>
          </a:xfrm>
          <a:prstGeom prst="bentConnector3">
            <a:avLst/>
          </a:prstGeom>
          <a:ln w="25400">
            <a:solidFill>
              <a:srgbClr val="DEB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0" y="36576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>
                <a:solidFill>
                  <a:srgbClr val="004E43"/>
                </a:solidFill>
                <a:latin typeface="Segoe UI"/>
                <a:cs typeface="Segoe UI"/>
              </a:rPr>
              <a:t>المرحلتان الرابعة والخامسة</a:t>
            </a:r>
          </a:p>
          <a:p>
            <a:pPr algn="r" rtl="1">
              <a:lnSpc>
                <a:spcPct val="105000"/>
              </a:lnSpc>
            </a:pPr>
            <a:r>
              <a:rPr sz="900" b="0">
                <a:solidFill>
                  <a:srgbClr val="71946A"/>
                </a:solidFill>
                <a:latin typeface="Segoe UI"/>
                <a:cs typeface="Segoe UI"/>
              </a:rPr>
              <a:t>Phase 04–05 · Impact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100" b="1">
                <a:solidFill>
                  <a:srgbClr val="71946A"/>
                </a:solidFill>
                <a:latin typeface="Consolas"/>
                <a:cs typeface="Consolas"/>
              </a:rPr>
              <a:t>05 —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000" b="1">
                <a:solidFill>
                  <a:srgbClr val="004E43"/>
                </a:solidFill>
                <a:latin typeface="Segoe UI"/>
                <a:cs typeface="Segoe UI"/>
              </a:rPr>
              <a:t>الأثر والدروس </a:t>
            </a:r>
            <a:r>
              <a:rPr sz="3000" b="1">
                <a:solidFill>
                  <a:srgbClr val="DEB83B"/>
                </a:solidFill>
                <a:latin typeface="Segoe UI"/>
                <a:cs typeface="Segoe UI"/>
              </a:rPr>
              <a:t>وخطط التحسين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2375" y="1828800"/>
            <a:ext cx="5440680" cy="3566160"/>
          </a:xfrm>
          <a:prstGeom prst="roundRect">
            <a:avLst>
              <a:gd name="adj" fmla="val 5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28655" y="2148840"/>
            <a:ext cx="594360" cy="594360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DEB83B"/>
              </a:gs>
              <a:gs pos="100000">
                <a:srgbClr val="C79A26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28655" y="2212848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2000" b="1">
                <a:solidFill>
                  <a:srgbClr val="17332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8135" y="2194560"/>
            <a:ext cx="3977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1">
                <a:solidFill>
                  <a:srgbClr val="004E43"/>
                </a:solidFill>
                <a:latin typeface="Segoe UI"/>
                <a:cs typeface="Segoe UI"/>
              </a:rPr>
              <a:t>الأثر والدروس المستفادة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8135" y="2606040"/>
            <a:ext cx="3977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sz="950" b="1">
                <a:solidFill>
                  <a:srgbClr val="71946A"/>
                </a:solidFill>
                <a:latin typeface="Segoe UI"/>
                <a:cs typeface="Segoe UI"/>
              </a:rPr>
              <a:t>IMPACTS &amp; INSIGHTS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68135" y="3063240"/>
            <a:ext cx="4709160" cy="0"/>
          </a:xfrm>
          <a:prstGeom prst="bentConnector3">
            <a:avLst/>
          </a:prstGeom>
          <a:ln w="12700">
            <a:solidFill>
              <a:srgbClr val="DD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68135" y="3291840"/>
            <a:ext cx="47091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350" b="0">
                <a:solidFill>
                  <a:srgbClr val="3F4F4A"/>
                </a:solidFill>
                <a:latin typeface="Segoe UI"/>
                <a:cs typeface="Segoe UI"/>
              </a:rPr>
              <a:t>◆  تحليل الأداء العام ومقارنة المستهدَف بالناتج الفعلي.</a:t>
            </a:r>
          </a:p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350" b="0">
                <a:solidFill>
                  <a:srgbClr val="3F4F4A"/>
                </a:solidFill>
                <a:latin typeface="Segoe UI"/>
                <a:cs typeface="Segoe UI"/>
              </a:rPr>
              <a:t>◆  تحديد نقاط القوة ووضع خطة لتطويرها.</a:t>
            </a:r>
          </a:p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350" b="0">
                <a:solidFill>
                  <a:srgbClr val="3F4F4A"/>
                </a:solidFill>
                <a:latin typeface="Segoe UI"/>
                <a:cs typeface="Segoe UI"/>
              </a:rPr>
              <a:t>◆  تحديد التحديات ووضع خطة لمعالجتها.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28800"/>
            <a:ext cx="5440680" cy="3566160"/>
          </a:xfrm>
          <a:prstGeom prst="roundRect">
            <a:avLst>
              <a:gd name="adj" fmla="val 5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74920" y="2148840"/>
            <a:ext cx="594360" cy="594360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DEB83B"/>
              </a:gs>
              <a:gs pos="100000">
                <a:srgbClr val="C79A26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212848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2000" b="1">
                <a:solidFill>
                  <a:srgbClr val="17332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94560"/>
            <a:ext cx="3977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1">
                <a:solidFill>
                  <a:srgbClr val="004E43"/>
                </a:solidFill>
                <a:latin typeface="Segoe UI"/>
                <a:cs typeface="Segoe UI"/>
              </a:rPr>
              <a:t>خطط التحسين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606040"/>
            <a:ext cx="3977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sz="950" b="1">
                <a:solidFill>
                  <a:srgbClr val="71946A"/>
                </a:solidFill>
                <a:latin typeface="Segoe UI"/>
                <a:cs typeface="Segoe UI"/>
              </a:rPr>
              <a:t>OPTIMIZATION PLANS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3063240"/>
            <a:ext cx="4709160" cy="0"/>
          </a:xfrm>
          <a:prstGeom prst="bentConnector3">
            <a:avLst/>
          </a:prstGeom>
          <a:ln w="12700">
            <a:solidFill>
              <a:srgbClr val="DD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3291840"/>
            <a:ext cx="47091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350" b="0">
                <a:solidFill>
                  <a:srgbClr val="3F4F4A"/>
                </a:solidFill>
                <a:latin typeface="Segoe UI"/>
                <a:cs typeface="Segoe UI"/>
              </a:rPr>
              <a:t>◆  تقديم التقرير النهائي لمدير عام الإدارة.</a:t>
            </a:r>
          </a:p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350" b="0">
                <a:solidFill>
                  <a:srgbClr val="3F4F4A"/>
                </a:solidFill>
                <a:latin typeface="Segoe UI"/>
                <a:cs typeface="Segoe UI"/>
              </a:rPr>
              <a:t>◆  وضع خطط لمعالجة التحديات وتحسين المشاركات المستقبلية.</a:t>
            </a:r>
          </a:p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350" b="0">
                <a:solidFill>
                  <a:srgbClr val="3F4F4A"/>
                </a:solidFill>
                <a:latin typeface="Segoe UI"/>
                <a:cs typeface="Segoe UI"/>
              </a:rPr>
              <a:t>◆  تحديد الميزانيات المطلوبة (إن وُجدت).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91672" cy="0"/>
          </a:xfrm>
          <a:prstGeom prst="bentConnector3">
            <a:avLst/>
          </a:prstGeom>
          <a:ln w="9525">
            <a:solidFill>
              <a:srgbClr val="CF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17920" y="6419088"/>
            <a:ext cx="5422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050" b="0">
                <a:solidFill>
                  <a:srgbClr val="71946A"/>
                </a:solidFill>
                <a:latin typeface="Segoe UI"/>
                <a:cs typeface="Segoe UI"/>
              </a:rPr>
              <a:t>المركز الوطني لسلامة النقل · إدارة التواصل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900" b="0">
                <a:solidFill>
                  <a:srgbClr val="71946A"/>
                </a:solidFill>
                <a:latin typeface="Consolas"/>
                <a:cs typeface="Consolas"/>
              </a:rPr>
              <a:t>NTSC — IMPACT MEASUREMENT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698480" y="566928"/>
            <a:ext cx="502920" cy="0"/>
          </a:xfrm>
          <a:prstGeom prst="bentConnector3">
            <a:avLst/>
          </a:prstGeom>
          <a:ln w="25400">
            <a:solidFill>
              <a:srgbClr val="DEB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0" y="36576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>
                <a:solidFill>
                  <a:srgbClr val="004E43"/>
                </a:solidFill>
                <a:latin typeface="Segoe UI"/>
                <a:cs typeface="Segoe UI"/>
              </a:rPr>
              <a:t>الأرشفة المؤسسية</a:t>
            </a:r>
          </a:p>
          <a:p>
            <a:pPr algn="r" rtl="1">
              <a:lnSpc>
                <a:spcPct val="105000"/>
              </a:lnSpc>
            </a:pPr>
            <a:r>
              <a:rPr sz="900" b="0">
                <a:solidFill>
                  <a:srgbClr val="71946A"/>
                </a:solidFill>
                <a:latin typeface="Segoe UI"/>
                <a:cs typeface="Segoe UI"/>
              </a:rPr>
              <a:t>Knowledge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100" b="1">
                <a:solidFill>
                  <a:srgbClr val="71946A"/>
                </a:solidFill>
                <a:latin typeface="Consolas"/>
                <a:cs typeface="Consolas"/>
              </a:rPr>
              <a:t>06 —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000" b="1">
                <a:solidFill>
                  <a:srgbClr val="004E43"/>
                </a:solidFill>
                <a:latin typeface="Segoe UI"/>
                <a:cs typeface="Segoe UI"/>
              </a:rPr>
              <a:t>إدارة المعلومات </a:t>
            </a:r>
            <a:r>
              <a:rPr sz="3000" b="1">
                <a:solidFill>
                  <a:srgbClr val="DEB83B"/>
                </a:solidFill>
                <a:latin typeface="Segoe UI"/>
                <a:cs typeface="Segoe UI"/>
              </a:rPr>
              <a:t>والتوثيق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53309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400" b="0">
                <a:solidFill>
                  <a:srgbClr val="2C3A36"/>
                </a:solidFill>
                <a:latin typeface="Segoe UI"/>
                <a:cs typeface="Segoe UI"/>
              </a:rPr>
              <a:t>تُحفظ التقارير والدراسات التسويقية المُعدّة قبل كل مشاركة، وتُجمَّع في أرشيفٍ متكامل يُمكّن المركز من إجراء تحليلات تسويقية شاملة عبر أطرٍ زمنية أطول.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9703" y="338328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32059" y="3584448"/>
            <a:ext cx="548640" cy="548640"/>
          </a:xfrm>
          <a:prstGeom prst="ellipse">
            <a:avLst/>
          </a:prstGeom>
          <a:gradFill>
            <a:gsLst>
              <a:gs pos="0">
                <a:srgbClr val="004E43"/>
              </a:gs>
              <a:gs pos="100000">
                <a:srgbClr val="17332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9703" y="4251960"/>
            <a:ext cx="1673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400" b="1">
                <a:solidFill>
                  <a:srgbClr val="004E43"/>
                </a:solidFill>
                <a:latin typeface="Segoe UI"/>
                <a:cs typeface="Segoe UI"/>
              </a:rPr>
              <a:t>سنوي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9703" y="4480560"/>
            <a:ext cx="16733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850" b="1">
                <a:solidFill>
                  <a:srgbClr val="71946A"/>
                </a:solidFill>
                <a:latin typeface="Segoe UI"/>
                <a:cs typeface="Segoe UI"/>
              </a:rPr>
              <a:t>ANNUAL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0903" y="338328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3259" y="3584448"/>
            <a:ext cx="548640" cy="548640"/>
          </a:xfrm>
          <a:prstGeom prst="ellipse">
            <a:avLst/>
          </a:prstGeom>
          <a:gradFill>
            <a:gsLst>
              <a:gs pos="0">
                <a:srgbClr val="004E43"/>
              </a:gs>
              <a:gs pos="100000">
                <a:srgbClr val="17332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0903" y="4251960"/>
            <a:ext cx="1673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400" b="1">
                <a:solidFill>
                  <a:srgbClr val="004E43"/>
                </a:solidFill>
                <a:latin typeface="Segoe UI"/>
                <a:cs typeface="Segoe UI"/>
              </a:rPr>
              <a:t>ربع سنوي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0903" y="4480560"/>
            <a:ext cx="16733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850" b="1">
                <a:solidFill>
                  <a:srgbClr val="71946A"/>
                </a:solidFill>
                <a:latin typeface="Segoe UI"/>
                <a:cs typeface="Segoe UI"/>
              </a:rPr>
              <a:t>QUARTERLY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2103" y="338328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74459" y="3584448"/>
            <a:ext cx="548640" cy="548640"/>
          </a:xfrm>
          <a:prstGeom prst="ellipse">
            <a:avLst/>
          </a:prstGeom>
          <a:gradFill>
            <a:gsLst>
              <a:gs pos="0">
                <a:srgbClr val="004E43"/>
              </a:gs>
              <a:gs pos="100000">
                <a:srgbClr val="17332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2103" y="4251960"/>
            <a:ext cx="1673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400" b="1">
                <a:solidFill>
                  <a:srgbClr val="004E43"/>
                </a:solidFill>
                <a:latin typeface="Segoe UI"/>
                <a:cs typeface="Segoe UI"/>
              </a:rPr>
              <a:t>موسمي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2103" y="4480560"/>
            <a:ext cx="16733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850" b="1">
                <a:solidFill>
                  <a:srgbClr val="71946A"/>
                </a:solidFill>
                <a:latin typeface="Segoe UI"/>
                <a:cs typeface="Segoe UI"/>
              </a:rPr>
              <a:t>SEASONAL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828800"/>
            <a:ext cx="5440680" cy="4114800"/>
          </a:xfrm>
          <a:prstGeom prst="roundRect">
            <a:avLst>
              <a:gd name="adj" fmla="val 6000"/>
            </a:avLst>
          </a:prstGeom>
          <a:gradFill>
            <a:gsLst>
              <a:gs pos="0">
                <a:srgbClr val="004E43"/>
              </a:gs>
              <a:gs pos="100000">
                <a:srgbClr val="17332F"/>
              </a:gs>
            </a:gsLst>
            <a:lin ang="5400000" scaled="1"/>
          </a:gradFill>
          <a:ln>
            <a:noFill/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20640" y="221284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A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212848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تقارير ما بعد المشاركة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560320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sz="850" b="1">
                <a:solidFill>
                  <a:srgbClr val="E9CE74"/>
                </a:solidFill>
                <a:latin typeface="Segoe UI"/>
                <a:cs typeface="Segoe UI"/>
              </a:rPr>
              <a:t>POST-PARTICIPATION REPORTS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2971800"/>
            <a:ext cx="4709160" cy="0"/>
          </a:xfrm>
          <a:prstGeom prst="bentConnector3">
            <a:avLst/>
          </a:prstGeom>
          <a:ln w="9525">
            <a:solidFill>
              <a:srgbClr val="2C5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20640" y="3145536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A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145536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الدراسات التسويقية المسبقة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493008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sz="850" b="1">
                <a:solidFill>
                  <a:srgbClr val="E9CE74"/>
                </a:solidFill>
                <a:latin typeface="Segoe UI"/>
                <a:cs typeface="Segoe UI"/>
              </a:rPr>
              <a:t>PRE-EVENT MARKETING STUDIES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3904488"/>
            <a:ext cx="4709160" cy="0"/>
          </a:xfrm>
          <a:prstGeom prst="bentConnector3">
            <a:avLst/>
          </a:prstGeom>
          <a:ln w="9525">
            <a:solidFill>
              <a:srgbClr val="2C5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120640" y="40782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A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078224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أرشيف بيانات موحّد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25696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sz="850" b="1">
                <a:solidFill>
                  <a:srgbClr val="E9CE74"/>
                </a:solidFill>
                <a:latin typeface="Segoe UI"/>
                <a:cs typeface="Segoe UI"/>
              </a:rPr>
              <a:t>UNIFIED DATA ARCHIVE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4837176"/>
            <a:ext cx="4709160" cy="0"/>
          </a:xfrm>
          <a:prstGeom prst="bentConnector3">
            <a:avLst/>
          </a:prstGeom>
          <a:ln w="9525">
            <a:solidFill>
              <a:srgbClr val="2C5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120640" y="501091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A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010912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تحليلات تسويقية شاملة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358384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sz="850" b="1">
                <a:solidFill>
                  <a:srgbClr val="E9CE74"/>
                </a:solidFill>
                <a:latin typeface="Segoe UI"/>
                <a:cs typeface="Segoe UI"/>
              </a:rPr>
              <a:t>COMPREHENSIVE ANALYTICS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355080"/>
            <a:ext cx="11091672" cy="0"/>
          </a:xfrm>
          <a:prstGeom prst="bentConnector3">
            <a:avLst/>
          </a:prstGeom>
          <a:ln w="9525">
            <a:solidFill>
              <a:srgbClr val="CF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17920" y="6419088"/>
            <a:ext cx="5422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050" b="0">
                <a:solidFill>
                  <a:srgbClr val="71946A"/>
                </a:solidFill>
                <a:latin typeface="Segoe UI"/>
                <a:cs typeface="Segoe UI"/>
              </a:rPr>
              <a:t>المركز الوطني لسلامة النقل · إدارة التواصل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900" b="0">
                <a:solidFill>
                  <a:srgbClr val="71946A"/>
                </a:solidFill>
                <a:latin typeface="Consolas"/>
                <a:cs typeface="Consolas"/>
              </a:rPr>
              <a:t>NTSC — IMPACT MEASUREMENT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698480" y="566928"/>
            <a:ext cx="502920" cy="0"/>
          </a:xfrm>
          <a:prstGeom prst="bentConnector3">
            <a:avLst/>
          </a:prstGeom>
          <a:ln w="25400">
            <a:solidFill>
              <a:srgbClr val="DEB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0" y="36576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>
                <a:solidFill>
                  <a:srgbClr val="004E43"/>
                </a:solidFill>
                <a:latin typeface="Segoe UI"/>
                <a:cs typeface="Segoe UI"/>
              </a:rPr>
              <a:t>المُخرَج النهائي</a:t>
            </a:r>
          </a:p>
          <a:p>
            <a:pPr algn="r" rtl="1">
              <a:lnSpc>
                <a:spcPct val="105000"/>
              </a:lnSpc>
            </a:pPr>
            <a:r>
              <a:rPr sz="900" b="0">
                <a:solidFill>
                  <a:srgbClr val="71946A"/>
                </a:solidFill>
                <a:latin typeface="Segoe UI"/>
                <a:cs typeface="Segoe UI"/>
              </a:rPr>
              <a:t>The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100" b="1">
                <a:solidFill>
                  <a:srgbClr val="71946A"/>
                </a:solidFill>
                <a:latin typeface="Consolas"/>
                <a:cs typeface="Consolas"/>
              </a:rPr>
              <a:t>07 —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000" b="1">
                <a:solidFill>
                  <a:srgbClr val="004E43"/>
                </a:solidFill>
                <a:latin typeface="Segoe UI"/>
                <a:cs typeface="Segoe UI"/>
              </a:rPr>
              <a:t>تقرير </a:t>
            </a:r>
            <a:r>
              <a:rPr sz="3000" b="1">
                <a:solidFill>
                  <a:srgbClr val="DEB83B"/>
                </a:solidFill>
                <a:latin typeface="Segoe UI"/>
                <a:cs typeface="Segoe UI"/>
              </a:rPr>
              <a:t>ما بعد المشاركة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50" b="0">
                <a:solidFill>
                  <a:srgbClr val="2C3A36"/>
                </a:solidFill>
                <a:latin typeface="Segoe UI"/>
                <a:cs typeface="Segoe UI"/>
              </a:rPr>
              <a:t>نموذجٌ موحّد يجمع نتائج المشاركة في وثيقةٍ واحدة تُرفع لمدير عام الإدارة وتُحفظ في الأرشيف المؤسسي.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31175" y="214884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87207" y="233172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200" b="1">
                <a:solidFill>
                  <a:srgbClr val="DEB83B"/>
                </a:solidFill>
                <a:latin typeface="Consolas"/>
                <a:cs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7207" y="231343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1">
                <a:solidFill>
                  <a:srgbClr val="004E43"/>
                </a:solidFill>
                <a:latin typeface="Segoe UI"/>
                <a:cs typeface="Segoe UI"/>
              </a:rPr>
              <a:t>بيانات المشاركة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7207" y="2651760"/>
            <a:ext cx="30998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sz="850" b="1">
                <a:solidFill>
                  <a:srgbClr val="71946A"/>
                </a:solidFill>
                <a:latin typeface="Segoe UI"/>
                <a:cs typeface="Segoe UI"/>
              </a:rPr>
              <a:t>PARTICIPATION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7207" y="2926080"/>
            <a:ext cx="30998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2615C"/>
                </a:solidFill>
                <a:latin typeface="Segoe UI"/>
                <a:cs typeface="Segoe UI"/>
              </a:rPr>
              <a:t>•  اسم الفعالية والجهة المنظِّمة</a:t>
            </a:r>
          </a:p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2615C"/>
                </a:solidFill>
                <a:latin typeface="Segoe UI"/>
                <a:cs typeface="Segoe UI"/>
              </a:rPr>
              <a:t>•  مكان وتاريخ المشاركة</a:t>
            </a:r>
          </a:p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2615C"/>
                </a:solidFill>
                <a:latin typeface="Segoe UI"/>
                <a:cs typeface="Segoe UI"/>
              </a:rPr>
              <a:t>•  نوع المشاركة</a:t>
            </a:r>
          </a:p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2615C"/>
                </a:solidFill>
                <a:latin typeface="Segoe UI"/>
                <a:cs typeface="Segoe UI"/>
              </a:rPr>
              <a:t>•  ممثلو المركز المشاركون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279" y="214884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7311" y="233172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200" b="1">
                <a:solidFill>
                  <a:srgbClr val="DEB83B"/>
                </a:solidFill>
                <a:latin typeface="Consolas"/>
                <a:cs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7311" y="231343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1">
                <a:solidFill>
                  <a:srgbClr val="004E43"/>
                </a:solidFill>
                <a:latin typeface="Segoe UI"/>
                <a:cs typeface="Segoe UI"/>
              </a:rPr>
              <a:t>ملخص المشاركة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311" y="2651760"/>
            <a:ext cx="30998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sz="850" b="1">
                <a:solidFill>
                  <a:srgbClr val="71946A"/>
                </a:solidFill>
                <a:latin typeface="Segoe UI"/>
                <a:cs typeface="Segoe UI"/>
              </a:rPr>
              <a:t>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7311" y="2926080"/>
            <a:ext cx="30998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2615C"/>
                </a:solidFill>
                <a:latin typeface="Segoe UI"/>
                <a:cs typeface="Segoe UI"/>
              </a:rPr>
              <a:t>•  نبذة مختصرة عن الفعالية</a:t>
            </a:r>
          </a:p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2615C"/>
                </a:solidFill>
                <a:latin typeface="Segoe UI"/>
                <a:cs typeface="Segoe UI"/>
              </a:rPr>
              <a:t>•  أهم الأنشطة التي نفّذها المركز</a:t>
            </a:r>
          </a:p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2615C"/>
                </a:solidFill>
                <a:latin typeface="Segoe UI"/>
                <a:cs typeface="Segoe UI"/>
              </a:rPr>
              <a:t>•  أبرز محطات الحضور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" y="214884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" y="233172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200" b="1">
                <a:solidFill>
                  <a:srgbClr val="DEB83B"/>
                </a:solidFill>
                <a:latin typeface="Consolas"/>
                <a:cs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" y="231343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1">
                <a:solidFill>
                  <a:srgbClr val="004E43"/>
                </a:solidFill>
                <a:latin typeface="Segoe UI"/>
                <a:cs typeface="Segoe UI"/>
              </a:rPr>
              <a:t>النتائج والمؤشرات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" y="2651760"/>
            <a:ext cx="30998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sz="850" b="1">
                <a:solidFill>
                  <a:srgbClr val="71946A"/>
                </a:solidFill>
                <a:latin typeface="Segoe UI"/>
                <a:cs typeface="Segoe UI"/>
              </a:rPr>
              <a:t>RESULTS &amp; KPIS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" y="2926080"/>
            <a:ext cx="30998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2615C"/>
                </a:solidFill>
                <a:latin typeface="Segoe UI"/>
                <a:cs typeface="Segoe UI"/>
              </a:rPr>
              <a:t>•  عدد زوّار الجناح</a:t>
            </a:r>
          </a:p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2615C"/>
                </a:solidFill>
                <a:latin typeface="Segoe UI"/>
                <a:cs typeface="Segoe UI"/>
              </a:rPr>
              <a:t>•  متوسط مدّة بقاء الزائر</a:t>
            </a:r>
          </a:p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2615C"/>
                </a:solidFill>
                <a:latin typeface="Segoe UI"/>
                <a:cs typeface="Segoe UI"/>
              </a:rPr>
              <a:t>•  الشراكات المستهدَفة</a:t>
            </a:r>
          </a:p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2615C"/>
                </a:solidFill>
                <a:latin typeface="Segoe UI"/>
                <a:cs typeface="Segoe UI"/>
              </a:rPr>
              <a:t>•  التغطيات الإعلامية الخارجية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1175" y="4059936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7207" y="4242816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200" b="1">
                <a:solidFill>
                  <a:srgbClr val="DEB83B"/>
                </a:solidFill>
                <a:latin typeface="Consolas"/>
                <a:cs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7207" y="4224528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1">
                <a:solidFill>
                  <a:srgbClr val="004E43"/>
                </a:solidFill>
                <a:latin typeface="Segoe UI"/>
                <a:cs typeface="Segoe UI"/>
              </a:rPr>
              <a:t>الدروس المستفادة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7207" y="4562856"/>
            <a:ext cx="30998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sz="850" b="1">
                <a:solidFill>
                  <a:srgbClr val="71946A"/>
                </a:solidFill>
                <a:latin typeface="Segoe UI"/>
                <a:cs typeface="Segoe UI"/>
              </a:rPr>
              <a:t>LESSONS LEARNED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7207" y="4837176"/>
            <a:ext cx="30998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2615C"/>
                </a:solidFill>
                <a:latin typeface="Segoe UI"/>
                <a:cs typeface="Segoe UI"/>
              </a:rPr>
              <a:t>•  نقاط القوة</a:t>
            </a:r>
          </a:p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2615C"/>
                </a:solidFill>
                <a:latin typeface="Segoe UI"/>
                <a:cs typeface="Segoe UI"/>
              </a:rPr>
              <a:t>•  التحديات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1279" y="4059936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12700">
            <a:solidFill>
              <a:srgbClr val="CFDAD2"/>
            </a:solidFill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7311" y="4242816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200" b="1">
                <a:solidFill>
                  <a:srgbClr val="DEB83B"/>
                </a:solidFill>
                <a:latin typeface="Consolas"/>
                <a:cs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7311" y="4224528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1">
                <a:solidFill>
                  <a:srgbClr val="004E43"/>
                </a:solidFill>
                <a:latin typeface="Segoe UI"/>
                <a:cs typeface="Segoe UI"/>
              </a:rPr>
              <a:t>التوصيات وخطة التحسين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7311" y="4562856"/>
            <a:ext cx="30998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sz="850" b="1">
                <a:solidFill>
                  <a:srgbClr val="71946A"/>
                </a:solidFill>
                <a:latin typeface="Segoe UI"/>
                <a:cs typeface="Segoe UI"/>
              </a:rPr>
              <a:t>RECOMMENDATIONS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7311" y="4837176"/>
            <a:ext cx="30998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2615C"/>
                </a:solidFill>
                <a:latin typeface="Segoe UI"/>
                <a:cs typeface="Segoe UI"/>
              </a:rPr>
              <a:t>•  التوصيات التنفيذية</a:t>
            </a:r>
          </a:p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2615C"/>
                </a:solidFill>
                <a:latin typeface="Segoe UI"/>
                <a:cs typeface="Segoe UI"/>
              </a:rPr>
              <a:t>•  خطة التحسين للمشاركات القادمة</a:t>
            </a:r>
          </a:p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2615C"/>
                </a:solidFill>
                <a:latin typeface="Segoe UI"/>
                <a:cs typeface="Segoe UI"/>
              </a:rPr>
              <a:t>•  الميزانيات المطلوبة (إن وُجدت)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1383" y="4059936"/>
            <a:ext cx="3611880" cy="1783080"/>
          </a:xfrm>
          <a:prstGeom prst="roundRect">
            <a:avLst>
              <a:gd name="adj" fmla="val 6000"/>
            </a:avLst>
          </a:prstGeom>
          <a:gradFill>
            <a:gsLst>
              <a:gs pos="0">
                <a:srgbClr val="004E43"/>
              </a:gs>
              <a:gs pos="100000">
                <a:srgbClr val="17332F"/>
              </a:gs>
            </a:gsLst>
            <a:lin ang="5400000" scaled="1"/>
          </a:gradFill>
          <a:ln>
            <a:noFill/>
          </a:ln>
          <a:effectLst/>
          <a:effectLst>
            <a:outerShdw blurRad="180000" dist="60000" dir="5400000" rotWithShape="0">
              <a:srgbClr val="0728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7415" y="4242816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200" b="1">
                <a:solidFill>
                  <a:srgbClr val="E9CE74"/>
                </a:solidFill>
                <a:latin typeface="Consolas"/>
                <a:cs typeface="Consola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415" y="4224528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  <a:cs typeface="Segoe UI"/>
              </a:rPr>
              <a:t>جاهز للأرشفة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415" y="4562856"/>
            <a:ext cx="30998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sz="850" b="1">
                <a:solidFill>
                  <a:srgbClr val="E9CE74"/>
                </a:solidFill>
                <a:latin typeface="Segoe UI"/>
                <a:cs typeface="Segoe UI"/>
              </a:rPr>
              <a:t>ARCHIVE-READY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415" y="4837176"/>
            <a:ext cx="30998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CFE0D9"/>
                </a:solidFill>
                <a:latin typeface="Segoe UI"/>
                <a:cs typeface="Segoe UI"/>
              </a:rPr>
              <a:t>•  وثيقة معتمدة تُغذّي التحليلات السنوية</a:t>
            </a:r>
          </a:p>
          <a:p>
            <a:pPr algn="r" rtl="1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CFE0D9"/>
                </a:solidFill>
                <a:latin typeface="Segoe UI"/>
                <a:cs typeface="Segoe UI"/>
              </a:rPr>
              <a:t>•  وتدعم اتخاذ القرار.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355080"/>
            <a:ext cx="11091672" cy="0"/>
          </a:xfrm>
          <a:prstGeom prst="bentConnector3">
            <a:avLst/>
          </a:prstGeom>
          <a:ln w="9525">
            <a:solidFill>
              <a:srgbClr val="CF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17920" y="6419088"/>
            <a:ext cx="5422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050" b="0">
                <a:solidFill>
                  <a:srgbClr val="71946A"/>
                </a:solidFill>
                <a:latin typeface="Segoe UI"/>
                <a:cs typeface="Segoe UI"/>
              </a:rPr>
              <a:t>المركز الوطني لسلامة النقل · إدارة التواصل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900" b="0">
                <a:solidFill>
                  <a:srgbClr val="71946A"/>
                </a:solidFill>
                <a:latin typeface="Consolas"/>
                <a:cs typeface="Consolas"/>
              </a:rPr>
              <a:t>NTSC — IMPACT MEASUREMENT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7332F"/>
              </a:gs>
              <a:gs pos="100000">
                <a:srgbClr val="004E43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tsc-emblem-gold.png"/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8686800" y="3474720"/>
            <a:ext cx="4572000" cy="4582160"/>
          </a:xfrm>
          <a:prstGeom prst="rect">
            <a:avLst/>
          </a:prstGeom>
        </p:spPr>
      </p:pic>
      <p:pic>
        <p:nvPicPr>
          <p:cNvPr id="4" name="Picture 3" descr="ntsc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1554480"/>
            <a:ext cx="3108960" cy="1018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697480"/>
            <a:ext cx="121916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Segoe UI"/>
                <a:cs typeface="Segoe UI"/>
              </a:rPr>
              <a:t>شـكـراً لـكـم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647" y="3977639"/>
            <a:ext cx="914400" cy="45720"/>
          </a:xfrm>
          <a:prstGeom prst="rect">
            <a:avLst/>
          </a:prstGeom>
          <a:solidFill>
            <a:srgbClr val="DEB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700" b="0">
                <a:solidFill>
                  <a:srgbClr val="CFE0D9"/>
                </a:solidFill>
                <a:latin typeface="Segoe UI"/>
                <a:cs typeface="Segoe UI"/>
              </a:rPr>
              <a:t>نقيس الأثر · نوثّق الدروس · نرتقي بالحضور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8006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200" b="0">
                <a:solidFill>
                  <a:srgbClr val="71946A"/>
                </a:solidFill>
                <a:latin typeface="Segoe UI"/>
                <a:cs typeface="Segoe UI"/>
              </a:rPr>
              <a:t>Communications Department — National Transport Safety Center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